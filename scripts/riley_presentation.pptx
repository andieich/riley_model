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plot_local_sensitivity.R" TargetMode="External" /><Relationship Id="rId3" Type="http://schemas.openxmlformats.org/officeDocument/2006/relationships/image" Target="../media/image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sim_global_sensitivity.R" TargetMode="External" /><Relationship Id="rId3" Type="http://schemas.openxmlformats.org/officeDocument/2006/relationships/image" Target="../media/image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Riley 1946</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Andreas Eich</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Model equations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Differential Equation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f>
                        <m:fPr>
                          <m:type m:val="bar"/>
                        </m:fPr>
                        <m:num>
                          <m:r>
                            <m:rPr>
                              <m:sty m:val="p"/>
                            </m:rPr>
                            <m:t>d</m:t>
                          </m:r>
                          <m:r>
                            <m:t>P</m:t>
                          </m:r>
                        </m:num>
                        <m:den>
                          <m:r>
                            <m:rPr>
                              <m:sty m:val="p"/>
                            </m:rPr>
                            <m:t>d</m:t>
                          </m:r>
                          <m:r>
                            <m:t>t</m:t>
                          </m:r>
                        </m:den>
                      </m:f>
                      <m:r>
                        <m:rPr>
                          <m:sty m:val="p"/>
                        </m:rPr>
                        <m:t>=</m:t>
                      </m:r>
                      <m:d>
                        <m:dPr>
                          <m:begChr m:val="("/>
                          <m:sepChr m:val=""/>
                          <m:endChr m:val=")"/>
                          <m:grow/>
                        </m:dPr>
                        <m:e>
                          <m:bar>
                            <m:barPr>
                              <m:pos m:val="top"/>
                            </m:barPr>
                            <m:e>
                              <m:sSub>
                                <m:e>
                                  <m:r>
                                    <m:t>P</m:t>
                                  </m:r>
                                </m:e>
                                <m:sub>
                                  <m:r>
                                    <m:t>h</m:t>
                                  </m:r>
                                </m:sub>
                              </m:sSub>
                            </m:e>
                          </m:bar>
                          <m:r>
                            <m:rPr>
                              <m:sty m:val="p"/>
                            </m:rPr>
                            <m:t>−</m:t>
                          </m:r>
                          <m:r>
                            <m:t>R</m:t>
                          </m:r>
                          <m:r>
                            <m:rPr>
                              <m:sty m:val="p"/>
                            </m:rPr>
                            <m:t>−</m:t>
                          </m:r>
                          <m:r>
                            <m:t>G</m:t>
                          </m:r>
                        </m:e>
                      </m:d>
                      <m:r>
                        <m:t> </m:t>
                      </m:r>
                      <m:r>
                        <m:t>P</m:t>
                      </m:r>
                    </m:oMath>
                  </m:oMathPara>
                </a14:m>
              </a:p>
              <a:p>
                <a:pPr lvl="0" indent="0" marL="0">
                  <a:buNone/>
                </a:pPr>
                <a:r>
                  <a:rPr/>
                  <a:t>, where </a:t>
                </a:r>
                <a14:m>
                  <m:oMath xmlns:m="http://schemas.openxmlformats.org/officeDocument/2006/math">
                    <m:r>
                      <m:t>P</m:t>
                    </m:r>
                  </m:oMath>
                </a14:m>
                <a:r>
                  <a:rPr/>
                  <a:t> is the Phytoplankton biomass, </a:t>
                </a:r>
                <a14:m>
                  <m:oMath xmlns:m="http://schemas.openxmlformats.org/officeDocument/2006/math">
                    <m:bar>
                      <m:barPr>
                        <m:pos m:val="top"/>
                      </m:barPr>
                      <m:e>
                        <m:sSub>
                          <m:e>
                            <m:r>
                              <m:t>P</m:t>
                            </m:r>
                          </m:e>
                          <m:sub>
                            <m:r>
                              <m:t>h</m:t>
                            </m:r>
                          </m:sub>
                        </m:sSub>
                      </m:e>
                    </m:bar>
                  </m:oMath>
                </a14:m>
                <a:r>
                  <a:rPr/>
                  <a:t> the average photosynthisis in euphotic zone, and </a:t>
                </a:r>
                <a14:m>
                  <m:oMath xmlns:m="http://schemas.openxmlformats.org/officeDocument/2006/math">
                    <m:r>
                      <m:t>G</m:t>
                    </m:r>
                  </m:oMath>
                </a14:m>
                <a:r>
                  <a:rPr/>
                  <a:t> the grazing rate.</a:t>
                </a:r>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Photosynthesis Rate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biomass-specific photosynthesis rate </a:t>
                </a:r>
                <a14:m>
                  <m:oMath xmlns:m="http://schemas.openxmlformats.org/officeDocument/2006/math">
                    <m:bar>
                      <m:barPr>
                        <m:pos m:val="top"/>
                      </m:barPr>
                      <m:e>
                        <m:sSub>
                          <m:e>
                            <m:r>
                              <m:t>P</m:t>
                            </m:r>
                          </m:e>
                          <m:sub>
                            <m:r>
                              <m:t>h</m:t>
                            </m:r>
                          </m:sub>
                        </m:sSub>
                      </m:e>
                    </m:bar>
                  </m:oMath>
                </a14:m>
                <a:r>
                  <a:rPr/>
                  <a:t> is calculated as</a:t>
                </a:r>
              </a:p>
              <a:p>
                <a:pPr lvl="0" indent="0" marL="0">
                  <a:buNone/>
                </a:pPr>
                <a:r>
                  <a:rPr/>
                  <a:t>$$
\overline{P_h}  = \frac{\textcolor{saddlebrown}{p}~\textcolor{steelblue}{I_0}}{\textcolor{steelblue}{k~z_\text{euph}}}~(1-\mathrm{e}^{-\textcolor{steelblue}{k~z_\text{euph}}})~\textcolor{steelblue}{L_\text{N}~L_\text{V}}
$$</a:t>
                </a:r>
              </a:p>
              <a:p>
                <a:pPr lvl="0" indent="0" marL="0">
                  <a:buNone/>
                </a:pPr>
                <a:r>
                  <a:rPr/>
                  <a:t>Parameters are shown in red and forcing variables in blue</a:t>
                </a:r>
              </a:p>
              <a:p>
                <a:pPr lvl="0" indent="0" marL="0">
                  <a:buNone/>
                </a:pPr>
                <a:r>
                  <a:rPr b="1"/>
                  <a:t>Parameters:</a:t>
                </a:r>
              </a:p>
              <a:p>
                <a:pPr lvl="0"/>
                <a:r>
                  <a:rPr/>
                  <a:t>$\textcolor{saddlebrown}{p}$</a:t>
                </a:r>
                <a:r>
                  <a:rPr/>
                  <a:t> = 2.5 </a:t>
                </a:r>
                <a14:m>
                  <m:oMath xmlns:m="http://schemas.openxmlformats.org/officeDocument/2006/math">
                    <m:f>
                      <m:fPr>
                        <m:type m:val="bar"/>
                      </m:fPr>
                      <m:num>
                        <m:r>
                          <m:rPr>
                            <m:sty m:val="p"/>
                          </m:rPr>
                          <m:t>g</m:t>
                        </m:r>
                        <m:r>
                          <m:rPr>
                            <m:sty m:val="p"/>
                          </m:rPr>
                          <m:t>C</m:t>
                        </m:r>
                        <m:r>
                          <m:rPr>
                            <m:sty m:val="p"/>
                          </m:rPr>
                          <m:t> </m:t>
                        </m:r>
                        <m:r>
                          <m:rPr>
                            <m:sty m:val="p"/>
                          </m:rPr>
                          <m:t>g</m:t>
                        </m:r>
                        <m:sSup>
                          <m:e>
                            <m:r>
                              <m:rPr>
                                <m:sty m:val="p"/>
                              </m:rPr>
                              <m:t>C</m:t>
                            </m:r>
                          </m:e>
                          <m:sup>
                            <m:r>
                              <m:rPr>
                                <m:sty m:val="p"/>
                              </m:rPr>
                              <m:t>−</m:t>
                            </m:r>
                            <m:r>
                              <m:rPr>
                                <m:sty m:val="p"/>
                              </m:rPr>
                              <m:t>1</m:t>
                            </m:r>
                          </m:sup>
                        </m:sSup>
                        <m:r>
                          <m:rPr>
                            <m:sty m:val="p"/>
                          </m:rPr>
                          <m:t> </m:t>
                        </m:r>
                        <m:sSup>
                          <m:e>
                            <m:r>
                              <m:rPr>
                                <m:sty m:val="p"/>
                              </m:rPr>
                              <m:t>d</m:t>
                            </m:r>
                          </m:e>
                          <m:sup>
                            <m:r>
                              <m:rPr>
                                <m:sty m:val="p"/>
                              </m:rPr>
                              <m:t>−</m:t>
                            </m:r>
                            <m:r>
                              <m:rPr>
                                <m:sty m:val="p"/>
                              </m:rPr>
                              <m:t>1</m:t>
                            </m:r>
                          </m:sup>
                        </m:sSup>
                      </m:num>
                      <m:den>
                        <m:r>
                          <m:rPr>
                            <m:sty m:val="p"/>
                          </m:rPr>
                          <m:t>g</m:t>
                        </m:r>
                        <m:r>
                          <m:rPr>
                            <m:sty m:val="p"/>
                          </m:rPr>
                          <m:t> </m:t>
                        </m:r>
                        <m:r>
                          <m:rPr>
                            <m:sty m:val="p"/>
                          </m:rPr>
                          <m:t>c</m:t>
                        </m:r>
                        <m:r>
                          <m:rPr>
                            <m:sty m:val="p"/>
                          </m:rPr>
                          <m:t>a</m:t>
                        </m:r>
                        <m:r>
                          <m:rPr>
                            <m:sty m:val="p"/>
                          </m:rPr>
                          <m:t>l</m:t>
                        </m:r>
                        <m:r>
                          <m:rPr>
                            <m:sty m:val="p"/>
                          </m:rPr>
                          <m:t> </m:t>
                        </m:r>
                        <m:r>
                          <m:rPr>
                            <m:sty m:val="p"/>
                          </m:rPr>
                          <m:t>c</m:t>
                        </m:r>
                        <m:sSup>
                          <m:e>
                            <m:r>
                              <m:rPr>
                                <m:sty m:val="p"/>
                              </m:rPr>
                              <m:t>m</m:t>
                            </m:r>
                          </m:e>
                          <m:sup>
                            <m:r>
                              <m:rPr>
                                <m:sty m:val="p"/>
                              </m:rPr>
                              <m:t>−</m:t>
                            </m:r>
                            <m:r>
                              <m:rPr>
                                <m:sty m:val="p"/>
                              </m:rPr>
                              <m:t>2</m:t>
                            </m:r>
                          </m:sup>
                        </m:sSup>
                        <m:r>
                          <m:rPr>
                            <m:sty m:val="p"/>
                          </m:rPr>
                          <m:t> </m:t>
                        </m:r>
                        <m:r>
                          <m:rPr>
                            <m:sty m:val="p"/>
                          </m:rPr>
                          <m:t>m</m:t>
                        </m:r>
                        <m:r>
                          <m:rPr>
                            <m:sty m:val="p"/>
                          </m:rPr>
                          <m:t>i</m:t>
                        </m:r>
                        <m:sSup>
                          <m:e>
                            <m:r>
                              <m:rPr>
                                <m:sty m:val="p"/>
                              </m:rPr>
                              <m:t>n</m:t>
                            </m:r>
                          </m:e>
                          <m:sup>
                            <m:r>
                              <m:rPr>
                                <m:sty m:val="p"/>
                              </m:rPr>
                              <m:t>−</m:t>
                            </m:r>
                            <m:r>
                              <m:rPr>
                                <m:sty m:val="p"/>
                              </m:rPr>
                              <m:t>1</m:t>
                            </m:r>
                          </m:sup>
                        </m:sSup>
                      </m:den>
                    </m:f>
                  </m:oMath>
                </a14:m>
                <a:r>
                  <a:rPr/>
                  <a:t> </a:t>
                </a:r>
                <a:r>
                  <a:rPr i="1"/>
                  <a:t>Photosynthetic rate per unit irradiance</a:t>
                </a:r>
              </a:p>
              <a:p>
                <a:pPr lvl="0" indent="0" marL="0">
                  <a:buNone/>
                </a:pPr>
                <a:r>
                  <a:rPr b="1"/>
                  <a:t>Forcing variables:</a:t>
                </a:r>
              </a:p>
              <a:p>
                <a:pPr lvl="0"/>
                <a:r>
                  <a:rPr/>
                  <a:t>$\textcolor{steelblue}{I_0}$</a:t>
                </a:r>
                <a:r>
                  <a:rPr/>
                  <a:t>: </a:t>
                </a:r>
                <a:r>
                  <a:rPr i="1"/>
                  <a:t>Light at seasurface</a:t>
                </a:r>
                <a:r>
                  <a:rPr/>
                  <a:t> in </a:t>
                </a:r>
                <a14:m>
                  <m:oMath xmlns:m="http://schemas.openxmlformats.org/officeDocument/2006/math">
                    <m:r>
                      <m:rPr>
                        <m:sty m:val="p"/>
                      </m:rPr>
                      <m:t>μ</m:t>
                    </m:r>
                    <m:r>
                      <m:rPr>
                        <m:sty m:val="p"/>
                      </m:rPr>
                      <m:t>E</m:t>
                    </m:r>
                    <m:r>
                      <m:rPr>
                        <m:sty m:val="p"/>
                      </m:rPr>
                      <m:t> </m:t>
                    </m:r>
                    <m:sSup>
                      <m:e>
                        <m:r>
                          <m:rPr>
                            <m:sty m:val="p"/>
                          </m:rPr>
                          <m:t>m</m:t>
                        </m:r>
                      </m:e>
                      <m:sup>
                        <m:r>
                          <m:rPr>
                            <m:sty m:val="p"/>
                          </m:rPr>
                          <m:t>−</m:t>
                        </m:r>
                        <m:r>
                          <m:rPr>
                            <m:sty m:val="p"/>
                          </m:rPr>
                          <m:t>2</m:t>
                        </m:r>
                      </m:sup>
                    </m:sSup>
                    <m:r>
                      <m:rPr>
                        <m:sty m:val="p"/>
                      </m:rPr>
                      <m:t> </m:t>
                    </m:r>
                    <m:sSup>
                      <m:e>
                        <m:r>
                          <m:rPr>
                            <m:sty m:val="p"/>
                          </m:rPr>
                          <m:t>s</m:t>
                        </m:r>
                      </m:e>
                      <m:sup>
                        <m:r>
                          <m:rPr>
                            <m:sty m:val="p"/>
                          </m:rPr>
                          <m:t>−</m:t>
                        </m:r>
                        <m:r>
                          <m:rPr>
                            <m:sty m:val="p"/>
                          </m:rPr>
                          <m:t>1</m:t>
                        </m:r>
                      </m:sup>
                    </m:sSup>
                  </m:oMath>
                </a14:m>
              </a:p>
              <a:p>
                <a:pPr lvl="0"/>
                <a:r>
                  <a:rPr/>
                  <a:t>$\textcolor{steelblue}{k}$</a:t>
                </a:r>
                <a:r>
                  <a:rPr/>
                  <a:t>: </a:t>
                </a:r>
                <a:r>
                  <a:rPr i="1"/>
                  <a:t>Light attenuation in the euphotic zone</a:t>
                </a:r>
                <a14:m>
                  <m:oMath xmlns:m="http://schemas.openxmlformats.org/officeDocument/2006/math">
                    <m:sSup>
                      <m:e>
                        <m:r>
                          <m:rPr>
                            <m:sty m:val="p"/>
                          </m:rPr>
                          <m:t>m</m:t>
                        </m:r>
                      </m:e>
                      <m:sup>
                        <m:r>
                          <m:rPr>
                            <m:sty m:val="p"/>
                          </m:rPr>
                          <m:t>−</m:t>
                        </m:r>
                        <m:r>
                          <m:rPr>
                            <m:sty m:val="p"/>
                          </m:rPr>
                          <m:t>1</m:t>
                        </m:r>
                      </m:sup>
                    </m:sSup>
                  </m:oMath>
                </a14:m>
              </a:p>
              <a:p>
                <a:pPr lvl="0"/>
                <a:r>
                  <a:rPr/>
                  <a:t>$\textcolor{steelblue}{L_\text{N}}$</a:t>
                </a:r>
                <a:r>
                  <a:rPr/>
                  <a:t>: </a:t>
                </a:r>
                <a:r>
                  <a:rPr i="1"/>
                  <a:t>Limiting effects of turbulence</a:t>
                </a:r>
                <a:r>
                  <a:rPr/>
                  <a:t>, unitless</a:t>
                </a:r>
              </a:p>
              <a:p>
                <a:pPr lvl="0"/>
                <a:r>
                  <a:rPr/>
                  <a:t>$\textcolor{steelblue}{L_\text{V}}$</a:t>
                </a:r>
                <a:r>
                  <a:rPr/>
                  <a:t>: </a:t>
                </a:r>
                <a:r>
                  <a:rPr i="1"/>
                  <a:t>Limiting effects of nutrients</a:t>
                </a:r>
                <a:r>
                  <a:rPr/>
                  <a:t>, unitless</a:t>
                </a:r>
              </a:p>
              <a:p>
                <a:pPr lvl="0"/>
                <a:r>
                  <a:rPr/>
                  <a:t>$\textcolor{steelblue}{z_\text{euph}}$</a:t>
                </a:r>
                <a:r>
                  <a:rPr/>
                  <a:t>: </a:t>
                </a:r>
                <a:r>
                  <a:rPr i="1"/>
                  <a:t>Depth of the euphotic zone</a:t>
                </a:r>
                <a:r>
                  <a:rPr/>
                  <a:t> in </a:t>
                </a:r>
                <a14:m>
                  <m:oMath xmlns:m="http://schemas.openxmlformats.org/officeDocument/2006/math">
                    <m:r>
                      <m:rPr>
                        <m:sty m:val="p"/>
                      </m:rPr>
                      <m:t>m</m:t>
                    </m:r>
                  </m:oMath>
                </a14:m>
              </a:p>
              <a:p>
                <a:pPr lvl="0" indent="0" marL="0">
                  <a:buNone/>
                </a:pPr>
                <a:r>
                  <a:rPr/>
                  <a:t>$\textcolor{steelblue}{L_\text{V}}$</a:t>
                </a:r>
                <a:r>
                  <a:rPr/>
                  <a:t> is calculated as</a:t>
                </a:r>
              </a:p>
              <a:p>
                <a:pPr lvl="0" indent="0" marL="0">
                  <a:buNone/>
                </a:pPr>
                <a:r>
                  <a:rPr/>
                  <a:t>$$
\textcolor{steelblue}{L_\text{V}} = \min(1, \frac{\textcolor{steelblue}{z_\text{euph}}}{\textcolor{steelblue}{z_\text{mix}}})
$$</a:t>
                </a:r>
              </a:p>
              <a:p>
                <a:pPr lvl="0" indent="0" marL="0">
                  <a:buNone/>
                </a:pPr>
                <a:r>
                  <a:rPr/>
                  <a:t>, where </a:t>
                </a:r>
                <a:r>
                  <a:rPr/>
                  <a:t>$\textcolor{steelblue}{z_\text{mix}}$</a:t>
                </a:r>
                <a:r>
                  <a:rPr/>
                  <a:t> is the depth of the mixed layer in </a:t>
                </a:r>
                <a14:m>
                  <m:oMath xmlns:m="http://schemas.openxmlformats.org/officeDocument/2006/math">
                    <m:r>
                      <m:rPr>
                        <m:sty m:val="p"/>
                      </m:rPr>
                      <m:t>m</m:t>
                    </m:r>
                  </m:oMath>
                </a14:m>
              </a:p>
              <a:p>
                <a:pPr lvl="0" indent="0" marL="0">
                  <a:buNone/>
                </a:pPr>
                <a:r>
                  <a:rPr/>
                  <a:t>$\textcolor{steelblue}{z_\text{euph}}$</a:t>
                </a:r>
                <a:r>
                  <a:rPr/>
                  <a:t> is calculated as</a:t>
                </a:r>
              </a:p>
              <a:p>
                <a:pPr lvl="0" indent="0" marL="0">
                  <a:buNone/>
                </a:pPr>
                <a:r>
                  <a:rPr/>
                  <a:t>$$
\textcolor{steelblue}{z_\text{euph}} = \log(\frac{\textcolor{steelblue}{I_0}}{\textcolor{saddlebrown}{I_\text{min}}})
$$</a:t>
                </a:r>
              </a:p>
              <a:p>
                <a:pPr lvl="0" indent="0" marL="0">
                  <a:buNone/>
                </a:pPr>
                <a:r>
                  <a:rPr/>
                  <a:t>, where </a:t>
                </a:r>
                <a:r>
                  <a:rPr/>
                  <a:t>$\textcolor{saddlebrown}{I_\text{min}}$</a:t>
                </a:r>
                <a:r>
                  <a:rPr/>
                  <a:t> is a parameter defining the light intensity at the base of the euphotic zone: 0.0015 </a:t>
                </a:r>
                <a14:m>
                  <m:oMath xmlns:m="http://schemas.openxmlformats.org/officeDocument/2006/math">
                    <m:r>
                      <m:rPr>
                        <m:sty m:val="p"/>
                      </m:rPr>
                      <m:t>g</m:t>
                    </m:r>
                    <m:r>
                      <m:rPr>
                        <m:sty m:val="p"/>
                      </m:rPr>
                      <m:t> </m:t>
                    </m:r>
                    <m:r>
                      <m:rPr>
                        <m:sty m:val="p"/>
                      </m:rPr>
                      <m:t>c</m:t>
                    </m:r>
                    <m:r>
                      <m:rPr>
                        <m:sty m:val="p"/>
                      </m:rPr>
                      <m:t>a</m:t>
                    </m:r>
                    <m:r>
                      <m:rPr>
                        <m:sty m:val="p"/>
                      </m:rPr>
                      <m:t>l</m:t>
                    </m:r>
                    <m:r>
                      <m:rPr>
                        <m:sty m:val="p"/>
                      </m:rPr>
                      <m:t> </m:t>
                    </m:r>
                    <m:r>
                      <m:rPr>
                        <m:sty m:val="p"/>
                      </m:rPr>
                      <m:t>c</m:t>
                    </m:r>
                    <m:sSup>
                      <m:e>
                        <m:r>
                          <m:rPr>
                            <m:sty m:val="p"/>
                          </m:rPr>
                          <m:t>m</m:t>
                        </m:r>
                      </m:e>
                      <m:sup>
                        <m:r>
                          <m:rPr>
                            <m:sty m:val="p"/>
                          </m:rPr>
                          <m:t>−</m:t>
                        </m:r>
                        <m:r>
                          <m:rPr>
                            <m:sty m:val="p"/>
                          </m:rPr>
                          <m:t>2</m:t>
                        </m:r>
                      </m:sup>
                    </m:sSup>
                    <m:r>
                      <m:rPr>
                        <m:sty m:val="p"/>
                      </m:rPr>
                      <m:t> </m:t>
                    </m:r>
                    <m:r>
                      <m:rPr>
                        <m:sty m:val="p"/>
                      </m:rPr>
                      <m:t>m</m:t>
                    </m:r>
                    <m:r>
                      <m:rPr>
                        <m:sty m:val="p"/>
                      </m:rPr>
                      <m:t>i</m:t>
                    </m:r>
                    <m:sSup>
                      <m:e>
                        <m:r>
                          <m:rPr>
                            <m:sty m:val="p"/>
                          </m:rPr>
                          <m:t>n</m:t>
                        </m:r>
                      </m:e>
                      <m:sup>
                        <m:r>
                          <m:rPr>
                            <m:sty m:val="p"/>
                          </m:rPr>
                          <m:t>−</m:t>
                        </m:r>
                        <m:r>
                          <m:rPr>
                            <m:sty m:val="p"/>
                          </m:rPr>
                          <m:t>1</m:t>
                        </m:r>
                      </m:sup>
                    </m:sSup>
                  </m:oMath>
                </a14:m>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Respiration Rate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biomass-specific respiration rate </a:t>
                </a:r>
                <a14:m>
                  <m:oMath xmlns:m="http://schemas.openxmlformats.org/officeDocument/2006/math">
                    <m:r>
                      <m:t>R</m:t>
                    </m:r>
                  </m:oMath>
                </a14:m>
                <a:r>
                  <a:rPr/>
                  <a:t> is calculated as</a:t>
                </a:r>
              </a:p>
              <a:p>
                <a:pPr lvl="0" indent="0" marL="0">
                  <a:buNone/>
                </a:pPr>
                <a:r>
                  <a:rPr/>
                  <a:t>$$
R = \textcolor{saddlebrown}{R_0}~\mathrm{e}^{\textcolor{saddlebrown}{r}~\textcolor{steelblue}{\text{temp}}}
$$</a:t>
                </a:r>
              </a:p>
              <a:p>
                <a:pPr lvl="0" indent="0" marL="0">
                  <a:buNone/>
                </a:pPr>
                <a:r>
                  <a:rPr b="1"/>
                  <a:t>Parameters:</a:t>
                </a:r>
              </a:p>
              <a:p>
                <a:pPr lvl="0"/>
                <a:r>
                  <a:rPr/>
                  <a:t>$\textcolor{saddlebrown}{R_0}$</a:t>
                </a:r>
                <a:r>
                  <a:rPr/>
                  <a:t>: 0.0175 </a:t>
                </a:r>
                <a14:m>
                  <m:oMath xmlns:m="http://schemas.openxmlformats.org/officeDocument/2006/math">
                    <m:sSup>
                      <m:e>
                        <m:r>
                          <m:rPr>
                            <m:nor/>
                            <m:sty m:val="p"/>
                          </m:rPr>
                          <m:t>d</m:t>
                        </m:r>
                      </m:e>
                      <m:sup>
                        <m:r>
                          <m:rPr>
                            <m:sty m:val="p"/>
                          </m:rPr>
                          <m:t>−</m:t>
                        </m:r>
                        <m:r>
                          <m:t>1</m:t>
                        </m:r>
                      </m:sup>
                    </m:sSup>
                  </m:oMath>
                </a14:m>
                <a:r>
                  <a:rPr/>
                  <a:t> </a:t>
                </a:r>
                <a:r>
                  <a:rPr i="1"/>
                  <a:t>Respiration rate of phytoplankton at 0 ◦C</a:t>
                </a:r>
                <a:r>
                  <a:rPr/>
                  <a:t>, in </a:t>
                </a:r>
                <a14:m>
                  <m:oMath xmlns:m="http://schemas.openxmlformats.org/officeDocument/2006/math">
                    <m:sSup>
                      <m:e>
                        <m:r>
                          <m:rPr>
                            <m:sty m:val="p"/>
                          </m:rPr>
                          <m:t>d</m:t>
                        </m:r>
                      </m:e>
                      <m:sup>
                        <m:r>
                          <m:rPr>
                            <m:sty m:val="p"/>
                          </m:rPr>
                          <m:t>−</m:t>
                        </m:r>
                        <m:r>
                          <m:rPr>
                            <m:sty m:val="p"/>
                          </m:rPr>
                          <m:t>1</m:t>
                        </m:r>
                      </m:sup>
                    </m:sSup>
                  </m:oMath>
                </a14:m>
              </a:p>
              <a:p>
                <a:pPr lvl="0"/>
                <a:r>
                  <a:rPr/>
                  <a:t>$\textcolor{saddlebrown}{r}$</a:t>
                </a:r>
                <a:r>
                  <a:rPr/>
                  <a:t>: 0.069 </a:t>
                </a:r>
                <a14:m>
                  <m:oMath xmlns:m="http://schemas.openxmlformats.org/officeDocument/2006/math">
                    <m:sSup>
                      <m:e>
                        <m:r>
                          <m:rPr>
                            <m:nor/>
                            <m:sty m:val="p"/>
                          </m:rPr>
                          <m:t>°C</m:t>
                        </m:r>
                      </m:e>
                      <m:sup>
                        <m:r>
                          <m:rPr>
                            <m:sty m:val="p"/>
                          </m:rPr>
                          <m:t>−</m:t>
                        </m:r>
                        <m:r>
                          <m:t>1</m:t>
                        </m:r>
                      </m:sup>
                    </m:sSup>
                  </m:oMath>
                </a14:m>
                <a:r>
                  <a:rPr/>
                  <a:t> </a:t>
                </a:r>
                <a:r>
                  <a:rPr i="1"/>
                  <a:t>Temperature dependency of respiration rate</a:t>
                </a:r>
              </a:p>
              <a:p>
                <a:pPr lvl="0" indent="0" marL="0">
                  <a:buNone/>
                </a:pPr>
                <a:r>
                  <a:rPr/>
                  <a:t>$\textcolor{saddlebrown}{r}$</a:t>
                </a:r>
                <a:r>
                  <a:rPr/>
                  <a:t> is equal </a:t>
                </a:r>
                <a14:m>
                  <m:oMath xmlns:m="http://schemas.openxmlformats.org/officeDocument/2006/math">
                    <m:sSub>
                      <m:e>
                        <m:r>
                          <m:t>Q</m:t>
                        </m:r>
                      </m:e>
                      <m:sub>
                        <m:r>
                          <m:t>10</m:t>
                        </m:r>
                      </m:sub>
                    </m:sSub>
                    <m:r>
                      <m:rPr>
                        <m:sty m:val="p"/>
                      </m:rPr>
                      <m:t>=</m:t>
                    </m:r>
                    <m:r>
                      <m:t>2</m:t>
                    </m:r>
                  </m:oMath>
                </a14:m>
                <a:r>
                  <a:rPr/>
                  <a:t>, i.e. doubling of rate for 10 °C increase in temperature: </a:t>
                </a:r>
                <a14:m>
                  <m:oMath xmlns:m="http://schemas.openxmlformats.org/officeDocument/2006/math">
                    <m:sSup>
                      <m:e>
                        <m:r>
                          <m:rPr>
                            <m:sty m:val="p"/>
                          </m:rPr>
                          <m:t>e</m:t>
                        </m:r>
                      </m:e>
                      <m:sup>
                        <m:r>
                          <m:t>10</m:t>
                        </m:r>
                        <m:r>
                          <m:rPr>
                            <m:nor/>
                            <m:sty m:val="p"/>
                          </m:rPr>
                          <m:t>°C</m:t>
                        </m:r>
                        <m:r>
                          <m:t> </m:t>
                        </m:r>
                        <m:r>
                          <m:t>0.069</m:t>
                        </m:r>
                        <m:r>
                          <m:t> </m:t>
                        </m:r>
                        <m:sSup>
                          <m:e>
                            <m:r>
                              <m:rPr>
                                <m:nor/>
                                <m:sty m:val="p"/>
                              </m:rPr>
                              <m:t>°C</m:t>
                            </m:r>
                          </m:e>
                          <m:sup>
                            <m:r>
                              <m:rPr>
                                <m:sty m:val="p"/>
                              </m:rPr>
                              <m:t>−</m:t>
                            </m:r>
                            <m:r>
                              <m:t>1</m:t>
                            </m:r>
                          </m:sup>
                        </m:sSup>
                      </m:sup>
                    </m:sSup>
                    <m:r>
                      <m:rPr>
                        <m:sty m:val="p"/>
                      </m:rPr>
                      <m:t>≈</m:t>
                    </m:r>
                    <m:r>
                      <m:t>2</m:t>
                    </m:r>
                  </m:oMath>
                </a14:m>
              </a:p>
              <a:p>
                <a:pPr lvl="0" indent="0" marL="0">
                  <a:buNone/>
                </a:pPr>
                <a:r>
                  <a:rPr b="1"/>
                  <a:t>Forcing Variables:</a:t>
                </a:r>
              </a:p>
              <a:p>
                <a:pPr lvl="0"/>
                <a:r>
                  <a:rPr/>
                  <a:t>$\textcolor{steelblue}{\text{temp}}$</a:t>
                </a:r>
                <a:r>
                  <a:rPr/>
                  <a:t>: </a:t>
                </a:r>
                <a:r>
                  <a:rPr i="1"/>
                  <a:t>Surface (?) seawater temperature</a:t>
                </a:r>
                <a:r>
                  <a:rPr/>
                  <a:t> in </a:t>
                </a:r>
                <a14:m>
                  <m:oMath xmlns:m="http://schemas.openxmlformats.org/officeDocument/2006/math">
                    <m:r>
                      <m:rPr>
                        <m:nor/>
                        <m:sty m:val="p"/>
                      </m:rPr>
                      <m:t>°C</m:t>
                    </m:r>
                  </m:oMath>
                </a14:m>
              </a:p>
            </p:txBody>
          </p:sp>
        </mc:Choice>
      </mc:AlternateContent>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Grazing Rate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biomass-specific grazing rate </a:t>
                </a:r>
                <a14:m>
                  <m:oMath xmlns:m="http://schemas.openxmlformats.org/officeDocument/2006/math">
                    <m:r>
                      <m:t>G</m:t>
                    </m:r>
                  </m:oMath>
                </a14:m>
                <a:r>
                  <a:rPr/>
                  <a:t> is calculated as</a:t>
                </a:r>
              </a:p>
              <a:p>
                <a:pPr lvl="0" indent="0" marL="0">
                  <a:buNone/>
                </a:pPr>
                <a:r>
                  <a:rPr/>
                  <a:t>$$
G = \textcolor{saddlebrown}{g}~\textcolor{steelblue}{zoo_{\text{bm}}}
$$</a:t>
                </a:r>
              </a:p>
              <a:p>
                <a:pPr lvl="0" indent="0" marL="0">
                  <a:buNone/>
                </a:pPr>
                <a:r>
                  <a:rPr b="1"/>
                  <a:t>Parameters:</a:t>
                </a:r>
              </a:p>
              <a:p>
                <a:pPr lvl="0"/>
                <a:r>
                  <a:rPr/>
                  <a:t>$\textcolor{saddlebrown}{g}$</a:t>
                </a:r>
                <a:r>
                  <a:rPr/>
                  <a:t>: 0.0075 </a:t>
                </a:r>
                <a14:m>
                  <m:oMath xmlns:m="http://schemas.openxmlformats.org/officeDocument/2006/math">
                    <m:f>
                      <m:fPr>
                        <m:type m:val="bar"/>
                      </m:fPr>
                      <m:num>
                        <m:sSup>
                          <m:e>
                            <m:r>
                              <m:rPr>
                                <m:sty m:val="p"/>
                              </m:rPr>
                              <m:t>d</m:t>
                            </m:r>
                          </m:e>
                          <m:sup>
                            <m:r>
                              <m:rPr>
                                <m:sty m:val="p"/>
                              </m:rPr>
                              <m:t>−</m:t>
                            </m:r>
                            <m:r>
                              <m:rPr>
                                <m:sty m:val="p"/>
                              </m:rPr>
                              <m:t>1</m:t>
                            </m:r>
                          </m:sup>
                        </m:sSup>
                      </m:num>
                      <m:den>
                        <m:r>
                          <m:rPr>
                            <m:sty m:val="p"/>
                          </m:rPr>
                          <m:t>g</m:t>
                        </m:r>
                        <m:r>
                          <m:rPr>
                            <m:sty m:val="p"/>
                          </m:rPr>
                          <m:t>C</m:t>
                        </m:r>
                        <m:r>
                          <m:rPr>
                            <m:sty m:val="p"/>
                          </m:rPr>
                          <m:t> </m:t>
                        </m:r>
                        <m:sSup>
                          <m:e>
                            <m:r>
                              <m:rPr>
                                <m:sty m:val="p"/>
                              </m:rPr>
                              <m:t>m</m:t>
                            </m:r>
                          </m:e>
                          <m:sup>
                            <m:r>
                              <m:rPr>
                                <m:sty m:val="p"/>
                              </m:rPr>
                              <m:t>−</m:t>
                            </m:r>
                            <m:r>
                              <m:rPr>
                                <m:sty m:val="p"/>
                              </m:rPr>
                              <m:t>2</m:t>
                            </m:r>
                          </m:sup>
                        </m:sSup>
                      </m:den>
                    </m:f>
                  </m:oMath>
                </a14:m>
                <a:r>
                  <a:rPr/>
                  <a:t> </a:t>
                </a:r>
                <a:r>
                  <a:rPr i="1"/>
                  <a:t>Clearance rate of grazers</a:t>
                </a:r>
              </a:p>
              <a:p>
                <a:pPr lvl="0" indent="0" marL="0">
                  <a:buNone/>
                </a:pPr>
                <a:r>
                  <a:rPr b="1"/>
                  <a:t>Forcing Variables:</a:t>
                </a:r>
              </a:p>
              <a:p>
                <a:pPr lvl="0"/>
                <a:r>
                  <a:rPr/>
                  <a:t>$\textcolor{steelblue}{zoo_{\text{bm}}}$</a:t>
                </a:r>
                <a:r>
                  <a:rPr/>
                  <a:t>: </a:t>
                </a:r>
                <a:r>
                  <a:rPr i="1"/>
                  <a:t>Biomass of zooplankton</a:t>
                </a:r>
                <a:r>
                  <a:rPr/>
                  <a:t> in </a:t>
                </a:r>
                <a14:m>
                  <m:oMath xmlns:m="http://schemas.openxmlformats.org/officeDocument/2006/math">
                    <m:r>
                      <m:rPr>
                        <m:sty m:val="p"/>
                      </m:rPr>
                      <m:t>g</m:t>
                    </m:r>
                    <m:r>
                      <m:rPr>
                        <m:sty m:val="p"/>
                      </m:rPr>
                      <m:t>C</m:t>
                    </m:r>
                    <m:r>
                      <m:rPr>
                        <m:sty m:val="p"/>
                      </m:rPr>
                      <m:t> </m:t>
                    </m:r>
                    <m:sSup>
                      <m:e>
                        <m:r>
                          <m:rPr>
                            <m:sty m:val="p"/>
                          </m:rPr>
                          <m:t>m</m:t>
                        </m:r>
                      </m:e>
                      <m:sup>
                        <m:r>
                          <m:rPr>
                            <m:sty m:val="p"/>
                          </m:rPr>
                          <m:t>−</m:t>
                        </m:r>
                        <m:r>
                          <m:rPr>
                            <m:sty m:val="p"/>
                          </m:rPr>
                          <m:t>2</m:t>
                        </m:r>
                      </m:sup>
                    </m:sSup>
                  </m:oMath>
                </a14:m>
                <a:r>
                  <a:rPr/>
                  <a:t> (?)</a:t>
                </a:r>
              </a:p>
            </p:txBody>
          </p:sp>
        </mc:Choice>
      </mc:AlternateContent>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Model in R</a:t>
            </a:r>
          </a:p>
        </p:txBody>
      </p:sp>
      <p:sp>
        <p:nvSpPr>
          <p:cNvPr id="4" name="Text Placeholder 3"/>
          <p:cNvSpPr>
            <a:spLocks noGrp="1"/>
          </p:cNvSpPr>
          <p:nvPr>
            <p:ph idx="2" sz="half" type="body"/>
          </p:nvPr>
        </p:nvSpPr>
        <p:spPr/>
        <p:txBody>
          <a:bodyPr/>
          <a:lstStyle/>
          <a:p>
            <a:pPr lvl="0" indent="0" marL="0">
              <a:buNone/>
            </a:pPr>
            <a:r>
              <a:rPr/>
              <a:t>Setup</a:t>
            </a:r>
          </a:p>
          <a:p>
            <a:pPr lvl="0" indent="0" marL="0">
              <a:buNone/>
            </a:pPr>
            <a:r>
              <a:rPr/>
              <a:t>Load packages</a:t>
            </a:r>
          </a:p>
          <a:p>
            <a:pPr lvl="0" indent="0" marL="0">
              <a:buNone/>
            </a:pPr>
            <a:r>
              <a:rPr/>
              <a:t>Load forcing and observed data</a:t>
            </a:r>
          </a:p>
          <a:p>
            <a:pPr lvl="0" indent="0" marL="0">
              <a:buNone/>
            </a:pPr>
            <a:r>
              <a:rPr/>
              <a:t>Define parameters</a:t>
            </a:r>
          </a:p>
          <a:p>
            <a:pPr lvl="0" indent="0" marL="0">
              <a:buNone/>
            </a:pPr>
            <a:r>
              <a:rPr/>
              <a:t>Define first model version. Use </a:t>
            </a:r>
            <a:r>
              <a:rPr>
                <a:latin typeface="Courier"/>
              </a:rPr>
              <a:t>approx()</a:t>
            </a:r>
            <a:r>
              <a:rPr/>
              <a:t> to interpolate forcing data for each time point. For now, use </a:t>
            </a:r>
            <a:r>
              <a:rPr>
                <a:latin typeface="Courier"/>
              </a:rPr>
              <a:t>rule = 2</a:t>
            </a:r>
            <a:r>
              <a:rPr/>
              <a:t> so that for time points outside of the period in forcing data values are returned.</a:t>
            </a:r>
          </a:p>
          <a:p>
            <a:pPr lvl="0" indent="0" marL="0">
              <a:buNone/>
            </a:pPr>
            <a:r>
              <a:rPr/>
              <a:t>Define initial conditions</a:t>
            </a:r>
          </a:p>
          <a:p>
            <a:pPr lvl="0" indent="0" marL="0">
              <a:buNone/>
            </a:pPr>
            <a:r>
              <a:rPr/>
              <a:t>Time period to be integrated. Use 15 days because starting value is one time step (originally 15 days) before start of model.</a:t>
            </a:r>
          </a:p>
          <a:p>
            <a:pPr lvl="0" indent="0" marL="1270000">
              <a:buNone/>
            </a:pPr>
            <a:r>
              <a:rPr sz="2000">
                <a:latin typeface="Courier"/>
              </a:rPr>
              <a:t>approx()</a:t>
            </a:r>
            <a:r>
              <a:rPr sz="2000"/>
              <a:t> will use the 1st forcing data point for -15 days. See below for an alternative. Use interval of 1 day instead of 15 days.</a:t>
            </a:r>
          </a:p>
          <a:p>
            <a:pPr lvl="0" indent="0" marL="0">
              <a:buNone/>
            </a:pPr>
            <a:r>
              <a:rPr/>
              <a:t>Run the model (passing </a:t>
            </a:r>
            <a:r>
              <a:rPr>
                <a:latin typeface="Courier"/>
              </a:rPr>
              <a:t>dat_forc</a:t>
            </a:r>
            <a:r>
              <a:rPr/>
              <a:t> in </a:t>
            </a:r>
            <a:r>
              <a:rPr>
                <a:latin typeface="Courier"/>
              </a:rPr>
              <a:t>...</a:t>
            </a:r>
            <a:r>
              <a:rPr/>
              <a:t>)</a:t>
            </a:r>
          </a:p>
          <a:p>
            <a:pPr lvl="0" indent="0" marL="0">
              <a:buNone/>
            </a:pPr>
            <a:r>
              <a:rPr/>
              <a:t>Plot the integrated data</a:t>
            </a:r>
          </a:p>
        </p:txBody>
      </p:sp>
      <p:pic>
        <p:nvPicPr>
          <p:cNvPr descr="riley_presentation_files/figure-pptx/fig-phyto_m1-1.png" id="0" name="Picture 1"/>
          <p:cNvPicPr>
            <a:picLocks noGrp="1" noChangeAspect="1"/>
          </p:cNvPicPr>
          <p:nvPr/>
        </p:nvPicPr>
        <p:blipFill>
          <a:blip r:embed="rId2"/>
          <a:stretch>
            <a:fillRect/>
          </a:stretch>
        </p:blipFill>
        <p:spPr bwMode="auto">
          <a:xfrm>
            <a:off x="3568700" y="863600"/>
            <a:ext cx="5105400" cy="2552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1: Modelled phytoplankton biomass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Plot the rates</a:t>
            </a:r>
          </a:p>
        </p:txBody>
      </p:sp>
      <p:pic>
        <p:nvPicPr>
          <p:cNvPr descr="riley_presentation_files/figure-pptx/fig-rates_m1-1.png" id="0" name="Picture 1"/>
          <p:cNvPicPr>
            <a:picLocks noGrp="1" noChangeAspect="1"/>
          </p:cNvPicPr>
          <p:nvPr/>
        </p:nvPicPr>
        <p:blipFill>
          <a:blip r:embed="rId2"/>
          <a:stretch>
            <a:fillRect/>
          </a:stretch>
        </p:blipFill>
        <p:spPr bwMode="auto">
          <a:xfrm>
            <a:off x="3568700" y="863600"/>
            <a:ext cx="5105400" cy="2552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2: Modelled production rates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GAMs to interpolate forcing</a:t>
            </a:r>
          </a:p>
        </p:txBody>
      </p:sp>
      <p:sp>
        <p:nvSpPr>
          <p:cNvPr id="3" name="Content Placeholder 2"/>
          <p:cNvSpPr>
            <a:spLocks noGrp="1"/>
          </p:cNvSpPr>
          <p:nvPr>
            <p:ph idx="1"/>
          </p:nvPr>
        </p:nvSpPr>
        <p:spPr/>
        <p:txBody>
          <a:bodyPr/>
          <a:lstStyle/>
          <a:p>
            <a:pPr lvl="0" indent="0" marL="0">
              <a:buNone/>
            </a:pPr>
            <a:r>
              <a:rPr/>
              <a:t>As seen in Figure 2, some predictions are quite ‘jaggy’. This is probably due to the linear approximations used for the forcing variables. Additionally, using the next value for timepoints outside of the range of the forcing data set (start = -15 days, end = 365 days) is not ideal.</a:t>
            </a:r>
          </a:p>
          <a:p>
            <a:pPr lvl="0" indent="0" marL="0">
              <a:buNone/>
            </a:pPr>
            <a:r>
              <a:rPr/>
              <a:t>As an alternative, use “cyclic” GAMs. Cyclic means here, that the first values are considered when fitting the last within a period of 365 days.</a:t>
            </a:r>
          </a:p>
          <a:p>
            <a:pPr lvl="0" indent="0" marL="0">
              <a:buNone/>
            </a:pPr>
            <a:r>
              <a:rPr/>
              <a:t>Although GAMs are fitted only once outside of the model function, the prediction step takes much more time than </a:t>
            </a:r>
            <a:r>
              <a:rPr>
                <a:latin typeface="Courier"/>
              </a:rPr>
              <a:t>approx()</a:t>
            </a:r>
            <a:r>
              <a:rPr/>
              <a:t>.</a:t>
            </a:r>
          </a:p>
          <a:p>
            <a:pPr lvl="0" indent="0" marL="0">
              <a:buNone/>
            </a:pPr>
            <a:r>
              <a:rPr/>
              <a:t>Fit a GAM for each parameter:</a:t>
            </a:r>
          </a:p>
          <a:p>
            <a:pPr lvl="0" indent="0" marL="0">
              <a:buNone/>
            </a:pPr>
            <a:r>
              <a:rPr/>
              <a:t>Update model code</a:t>
            </a:r>
          </a:p>
          <a:p>
            <a:pPr lvl="0" indent="0" marL="0">
              <a:buNone/>
            </a:pPr>
            <a:r>
              <a:rPr/>
              <a:t>Now, solve as before</a:t>
            </a:r>
          </a:p>
          <a:p>
            <a:pPr lvl="0" indent="0" marL="1270000">
              <a:buNone/>
            </a:pPr>
            <a:r>
              <a:rPr sz="2000"/>
              <a:t>Takes a while to fit, not evaluated after 1st run, but saved to output folder</a:t>
            </a:r>
          </a:p>
          <a:p>
            <a:pPr lvl="0" indent="0" marL="0">
              <a:buNone/>
            </a:pPr>
            <a:r>
              <a:rPr/>
              <a:t>Read </a:t>
            </a:r>
            <a:r>
              <a:rPr>
                <a:latin typeface="Courier"/>
              </a:rPr>
              <a:t>solution_g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Compare both methods</a:t>
            </a:r>
          </a:p>
        </p:txBody>
      </p:sp>
      <p:sp>
        <p:nvSpPr>
          <p:cNvPr id="4" name="Text Placeholder 3"/>
          <p:cNvSpPr>
            <a:spLocks noGrp="1"/>
          </p:cNvSpPr>
          <p:nvPr>
            <p:ph idx="2" sz="half" type="body"/>
          </p:nvPr>
        </p:nvSpPr>
        <p:spPr/>
        <p:txBody>
          <a:bodyPr/>
          <a:lstStyle/>
          <a:p>
            <a:pPr lvl="0" indent="0" marL="0">
              <a:buNone/>
            </a:pPr>
            <a:r>
              <a:rPr/>
              <a:t>Plot phytoplankton biomass for both methods</a:t>
            </a:r>
          </a:p>
        </p:txBody>
      </p:sp>
      <p:pic>
        <p:nvPicPr>
          <p:cNvPr descr="riley_presentation_files/figure-pptx/fig-phyto_comparison-1.png" id="0" name="Picture 1"/>
          <p:cNvPicPr>
            <a:picLocks noGrp="1" noChangeAspect="1"/>
          </p:cNvPicPr>
          <p:nvPr/>
        </p:nvPicPr>
        <p:blipFill>
          <a:blip r:embed="rId2"/>
          <a:stretch>
            <a:fillRect/>
          </a:stretch>
        </p:blipFill>
        <p:spPr bwMode="auto">
          <a:xfrm>
            <a:off x="3568700" y="863600"/>
            <a:ext cx="5105400" cy="2552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3: Modelled phytoplankton biomass with </a:t>
            </a:r>
            <a:r>
              <a:rPr>
                <a:latin typeface="Courier"/>
              </a:rPr>
              <a:t>approx()</a:t>
            </a:r>
            <a:r>
              <a:rPr/>
              <a:t> and GAMS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Plot the rates next to each other</a:t>
            </a:r>
          </a:p>
        </p:txBody>
      </p:sp>
      <p:pic>
        <p:nvPicPr>
          <p:cNvPr descr="riley_presentation_files/figure-pptx/fig-rates_g-1.png" id="0" name="Picture 1"/>
          <p:cNvPicPr>
            <a:picLocks noGrp="1" noChangeAspect="1"/>
          </p:cNvPicPr>
          <p:nvPr/>
        </p:nvPicPr>
        <p:blipFill>
          <a:blip r:embed="rId2"/>
          <a:stretch>
            <a:fillRect/>
          </a:stretch>
        </p:blipFill>
        <p:spPr bwMode="auto">
          <a:xfrm>
            <a:off x="3568700" y="279400"/>
            <a:ext cx="5105400" cy="3708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4: Compare modelled production rates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Plot both interpolation methods for the forcing data</a:t>
            </a:r>
          </a:p>
        </p:txBody>
      </p:sp>
      <p:pic>
        <p:nvPicPr>
          <p:cNvPr descr="riley_presentation_files/figure-pptx/fig-forcing_comp-1.png" id="0" name="Picture 1"/>
          <p:cNvPicPr>
            <a:picLocks noGrp="1" noChangeAspect="1"/>
          </p:cNvPicPr>
          <p:nvPr/>
        </p:nvPicPr>
        <p:blipFill>
          <a:blip r:embed="rId2"/>
          <a:stretch>
            <a:fillRect/>
          </a:stretch>
        </p:blipFill>
        <p:spPr bwMode="auto">
          <a:xfrm>
            <a:off x="3987800" y="203200"/>
            <a:ext cx="4267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5: Compare interpolation of forcing data</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Calibration</a:t>
            </a:r>
          </a:p>
        </p:txBody>
      </p:sp>
      <p:sp>
        <p:nvSpPr>
          <p:cNvPr id="4" name="Text Placeholder 3"/>
          <p:cNvSpPr>
            <a:spLocks noGrp="1"/>
          </p:cNvSpPr>
          <p:nvPr>
            <p:ph idx="2" sz="half" type="body"/>
          </p:nvPr>
        </p:nvSpPr>
        <p:spPr/>
        <p:txBody>
          <a:bodyPr/>
          <a:lstStyle/>
          <a:p>
            <a:pPr lvl="0" indent="0" marL="0">
              <a:buNone/>
            </a:pPr>
            <a:r>
              <a:rPr/>
              <a:t>To improve fit towards end of simulation, copy first observed data point (day 8) to day 365.</a:t>
            </a:r>
          </a:p>
          <a:p>
            <a:pPr lvl="0" indent="0" marL="0">
              <a:buNone/>
            </a:pPr>
            <a:r>
              <a:rPr/>
              <a:t>This step takes some time, use the faster model with </a:t>
            </a:r>
            <a:r>
              <a:rPr>
                <a:latin typeface="Courier"/>
              </a:rPr>
              <a:t>approx()</a:t>
            </a:r>
            <a:r>
              <a:rPr/>
              <a:t>. Only integrate at -15 days (initial conditions) and the timpoints in observed data. It still takes a long time to fit, so save output after first run.</a:t>
            </a:r>
          </a:p>
          <a:p>
            <a:pPr lvl="0" indent="0" marL="0">
              <a:buNone/>
            </a:pPr>
            <a:r>
              <a:rPr/>
              <a:t>Lower value explored is 0.5 * baseline parameter value and upper value 2 * baseline value.</a:t>
            </a:r>
          </a:p>
          <a:p>
            <a:pPr lvl="0" indent="0" marL="0">
              <a:buNone/>
            </a:pPr>
            <a:r>
              <a:rPr/>
              <a:t>Read output, use for new integration, and plot</a:t>
            </a:r>
          </a:p>
        </p:txBody>
      </p:sp>
      <p:pic>
        <p:nvPicPr>
          <p:cNvPr descr="riley_presentation_files/figure-pptx/unnamed-chunk-15-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Sensitivity Analysis</a:t>
            </a:r>
          </a:p>
        </p:txBody>
      </p:sp>
      <p:sp>
        <p:nvSpPr>
          <p:cNvPr id="4" name="Text Placeholder 3"/>
          <p:cNvSpPr>
            <a:spLocks noGrp="1"/>
          </p:cNvSpPr>
          <p:nvPr>
            <p:ph idx="2" sz="half" type="body"/>
          </p:nvPr>
        </p:nvSpPr>
        <p:spPr/>
        <p:txBody>
          <a:bodyPr/>
          <a:lstStyle/>
          <a:p>
            <a:pPr lvl="0" indent="0" marL="0">
              <a:spcBef>
                <a:spcPts val="3000"/>
              </a:spcBef>
              <a:buNone/>
            </a:pPr>
            <a:r>
              <a:rPr b="1"/>
              <a:t>Local</a:t>
            </a:r>
          </a:p>
          <a:p>
            <a:pPr lvl="0" indent="0" marL="0">
              <a:buNone/>
            </a:pPr>
            <a:r>
              <a:rPr/>
              <a:t>Get </a:t>
            </a:r>
            <a:r>
              <a:rPr>
                <a:hlinkClick r:id="rId2"/>
              </a:rPr>
              <a:t>custom function</a:t>
            </a:r>
            <a:r>
              <a:rPr/>
              <a:t> to local sensitivity analysis. For each parameter, it plots the “baseline” value, and the scenario if that baseline value is multiplied by 0.8 and 1.2 (or other values).</a:t>
            </a:r>
          </a:p>
        </p:txBody>
      </p:sp>
      <p:pic>
        <p:nvPicPr>
          <p:cNvPr descr="riley_presentation_files/figure-pptx/fig-local_sensitivity-1.png" id="0" name="Picture 1"/>
          <p:cNvPicPr>
            <a:picLocks noGrp="1" noChangeAspect="1"/>
          </p:cNvPicPr>
          <p:nvPr/>
        </p:nvPicPr>
        <p:blipFill>
          <a:blip r:embed="rId3"/>
          <a:stretch>
            <a:fillRect/>
          </a:stretch>
        </p:blipFill>
        <p:spPr bwMode="auto">
          <a:xfrm>
            <a:off x="3987800" y="203200"/>
            <a:ext cx="4267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6: Local sensitivity analysis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Global Sensitivity analysis</a:t>
            </a:r>
          </a:p>
          <a:p>
            <a:pPr lvl="0" indent="0" marL="0">
              <a:buNone/>
            </a:pPr>
            <a:r>
              <a:rPr/>
              <a:t>Get </a:t>
            </a:r>
            <a:r>
              <a:rPr>
                <a:hlinkClick r:id="rId2"/>
              </a:rPr>
              <a:t>custom function</a:t>
            </a:r>
            <a:r>
              <a:rPr/>
              <a:t> to run simulations with different parameter combinations</a:t>
            </a:r>
          </a:p>
          <a:p>
            <a:pPr lvl="0" indent="0" marL="0">
              <a:buNone/>
            </a:pPr>
            <a:r>
              <a:rPr/>
              <a:t>Make data frame with parameter combinations (0.8 * baseline to 1.2 * baseline): Takes long time, save result to output</a:t>
            </a:r>
          </a:p>
        </p:txBody>
      </p:sp>
      <p:pic>
        <p:nvPicPr>
          <p:cNvPr descr="riley_presentation_files/figure-pptx/fig-global_sensitivity_lhs-1.png" id="0" name="Picture 1"/>
          <p:cNvPicPr>
            <a:picLocks noGrp="1" noChangeAspect="1"/>
          </p:cNvPicPr>
          <p:nvPr/>
        </p:nvPicPr>
        <p:blipFill>
          <a:blip r:embed="rId3"/>
          <a:stretch>
            <a:fillRect/>
          </a:stretch>
        </p:blipFill>
        <p:spPr bwMode="auto">
          <a:xfrm>
            <a:off x="3568700" y="863600"/>
            <a:ext cx="5105400" cy="2552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7: Global sensitivity LHS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Now, use normal distribution instead of uniform. sd is 0.1 * baseline. Save results.</a:t>
            </a:r>
          </a:p>
        </p:txBody>
      </p:sp>
      <p:pic>
        <p:nvPicPr>
          <p:cNvPr descr="riley_presentation_files/figure-pptx/fig-global_sensitivity_norm-1.png" id="0" name="Picture 1"/>
          <p:cNvPicPr>
            <a:picLocks noGrp="1" noChangeAspect="1"/>
          </p:cNvPicPr>
          <p:nvPr/>
        </p:nvPicPr>
        <p:blipFill>
          <a:blip r:embed="rId2"/>
          <a:stretch>
            <a:fillRect/>
          </a:stretch>
        </p:blipFill>
        <p:spPr bwMode="auto">
          <a:xfrm>
            <a:off x="3568700" y="863600"/>
            <a:ext cx="5105400" cy="2552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8: Global sensitivity normal distribution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 Figure 7 and Figure 8, the timing is mainly in 3 days, independed on the other values, which correlate to the three blooms that seem to depend only on the forcing variables.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Riley 1946</dc:title>
  <dc:creator>Andreas Eich</dc:creator>
  <cp:keywords/>
  <dcterms:created xsi:type="dcterms:W3CDTF">2025-11-02T02:21:58Z</dcterms:created>
  <dcterms:modified xsi:type="dcterms:W3CDTF">2025-11-02T02:21:58Z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toc-title">
    <vt:lpwstr>Table of contents</vt:lpwstr>
  </property>
</Properties>
</file>